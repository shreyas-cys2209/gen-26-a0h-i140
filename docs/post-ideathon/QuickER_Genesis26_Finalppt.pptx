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A95CD9A-71B6-85CF-9B1C-1D72112EA98F}">
          <p14:sldIdLst>
            <p14:sldId id="256"/>
            <p14:sldId id="257"/>
          </p14:sldIdLst>
        </p14:section>
        <p14:section name="Problem" id="{8B762D13-4A6D-E68E-EB99-C374ACAE6597}">
          <p14:sldIdLst>
            <p14:sldId id="258"/>
            <p14:sldId id="259"/>
            <p14:sldId id="260"/>
          </p14:sldIdLst>
        </p14:section>
        <p14:section name="Solution" id="{61843CA6-E34F-B903-5E9C-1941D05FEB8F}">
          <p14:sldIdLst>
            <p14:sldId id="261"/>
            <p14:sldId id="262"/>
            <p14:sldId id="263"/>
            <p14:sldId id="264"/>
          </p14:sldIdLst>
        </p14:section>
        <p14:section name="Plan and impact" id="{4048C067-02C0-73CD-0A41-021634C9E848}">
          <p14:sldIdLst>
            <p14:sldId id="265"/>
            <p14:sldId id="266"/>
            <p14:sldId id="267"/>
            <p14:sldId id="268"/>
          </p14:sldIdLst>
        </p14:section>
        <p14:section name="Team" id="{95060598-AF60-62F4-2763-A2FBEE10B90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45"/>
          <c:y val="0.03"/>
          <c:w val="0.45"/>
          <c:h val="0.9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victims delayed (%)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chemeClr val="accent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vehicle available</c:v>
                </c:pt>
                <c:pt idx="1">
                  <c:v>Delay in communication</c:v>
                </c:pt>
                <c:pt idx="2">
                  <c:v>Long travel time</c:v>
                </c:pt>
                <c:pt idx="3">
                  <c:v>Didn't know a nearby facility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27.5</c:v>
                </c:pt>
                <c:pt idx="1">
                  <c:v>21.1</c:v>
                </c:pt>
                <c:pt idx="2">
                  <c:v>14.6</c:v>
                </c:pt>
                <c:pt idx="3">
                  <c:v>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04-4AC1-97A4-BD542AEC2F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3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220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/home/claude/v4/fixed/reference_logos/Amrita_Vishwa_Vidyapeeth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10" y="649224"/>
            <a:ext cx="2254910" cy="964692"/>
          </a:xfrm>
          <a:prstGeom prst="rect">
            <a:avLst/>
          </a:prstGeom>
        </p:spPr>
      </p:pic>
      <p:pic>
        <p:nvPicPr>
          <p:cNvPr id="4" name="Image 1" descr="/home/claude/v4/fixed/reference_logos/ii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98" y="774497"/>
            <a:ext cx="1651406" cy="714146"/>
          </a:xfrm>
          <a:prstGeom prst="rect">
            <a:avLst/>
          </a:prstGeom>
        </p:spPr>
      </p:pic>
      <p:pic>
        <p:nvPicPr>
          <p:cNvPr id="5" name="Image 2" descr="/home/claude/v4/fixed/reference_logos/genesis-i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774497"/>
            <a:ext cx="871423" cy="71414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40080" y="1828800"/>
            <a:ext cx="7863840" cy="2743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2"/>
          <p:cNvSpPr/>
          <p:nvPr/>
        </p:nvSpPr>
        <p:spPr>
          <a:xfrm>
            <a:off x="640080" y="2258568"/>
            <a:ext cx="1728216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3"/>
          <p:cNvSpPr>
            <a:spLocks noGrp="1"/>
          </p:cNvSpPr>
          <p:nvPr>
            <p:ph type="title" idx="106" hasCustomPrompt="1"/>
          </p:nvPr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Out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914400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"/>
            <a:ext cx="9144000" cy="36576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0" descr="/home/claude/v4/fixed/reference_logos/genesis-i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393" y="85954"/>
            <a:ext cx="557784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11112"/>
            <a:ext cx="9144000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66111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GEN26-A0H-I140 | QuickER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66111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11th October 2026</a:t>
            </a:r>
            <a:endParaRPr lang="en-US" sz="1000" dirty="0"/>
          </a:p>
        </p:txBody>
      </p:sp>
      <p:sp>
        <p:nvSpPr>
          <p:cNvPr id="8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6" hasCustomPrompt="1"/>
          </p:nvPr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Ideathon: Final Presentation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r>
              <a:rPr lang="en-US" sz="5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673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accident report. Every responder. Zero lost minutes.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7863840" cy="1472184"/>
          </a:xfrm>
          <a:prstGeom prst="roundRect">
            <a:avLst>
              <a:gd name="adj" fmla="val 372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297680"/>
            <a:ext cx="73152" cy="14721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4370832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r>
              <a:rPr lang="en-US" sz="18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GEN26-A0H-I140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US" sz="18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8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Biotechnology and Human Well-being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16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Vidyapeetham, Coimbatore Campus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6016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11th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95728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  <a:p>
            <a:pPr marL="304800" indent="-304800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800" dirty="0"/>
          </a:p>
          <a:p>
            <a:pPr marL="304800" indent="-304800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Gaps &amp; Challenges</a:t>
            </a:r>
            <a:endParaRPr lang="en-US" sz="1800" dirty="0"/>
          </a:p>
          <a:p>
            <a:pPr marL="304800" indent="-304800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</a:t>
            </a:r>
            <a:endParaRPr lang="en-US" sz="1800" dirty="0"/>
          </a:p>
          <a:p>
            <a:pPr marL="304800" indent="-304800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800" dirty="0"/>
          </a:p>
          <a:p>
            <a:pPr marL="304800" indent="-304800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2395728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ts val="24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1800" dirty="0"/>
          </a:p>
          <a:p>
            <a:pPr marL="406400" indent="-406400">
              <a:lnSpc>
                <a:spcPts val="24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 Product</a:t>
            </a:r>
            <a:endParaRPr lang="en-US" sz="1800" dirty="0"/>
          </a:p>
          <a:p>
            <a:pPr marL="406400" indent="-406400">
              <a:lnSpc>
                <a:spcPts val="24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800" dirty="0"/>
          </a:p>
          <a:p>
            <a:pPr marL="406400" indent="-406400">
              <a:lnSpc>
                <a:spcPts val="24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and Benefits</a:t>
            </a:r>
            <a:endParaRPr lang="en-US" sz="1800" dirty="0"/>
          </a:p>
          <a:p>
            <a:pPr marL="406400" indent="-406400">
              <a:lnSpc>
                <a:spcPts val="24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Goals</a:t>
            </a:r>
            <a:endParaRPr lang="en-US" sz="1800" dirty="0"/>
          </a:p>
          <a:p>
            <a:pPr marL="406400" indent="-406400">
              <a:lnSpc>
                <a:spcPts val="24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Member Contribution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9496" y="1069848"/>
            <a:ext cx="8065008" cy="2441448"/>
          </a:xfrm>
          <a:prstGeom prst="roundRect">
            <a:avLst>
              <a:gd name="adj" fmla="val 299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6384" y="1261872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road accident happens in India, the ambulance, the hospital, the traffic police and the family are informed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call at a time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victim is taken to the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hospital, not the one that is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them. The golden hour is lost to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distance.</a:t>
            </a:r>
            <a:endParaRPr lang="en-US" sz="16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statement: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 one platform that turns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accident report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action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right ambulance, the right hospital, a cleared route, nearby help and an informed family, all inside the golden hour.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India (1.72 lakh in 2023)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10128" y="3749040"/>
            <a:ext cx="2441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43891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victims reached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hospital within the golden hour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3749040"/>
            <a:ext cx="2441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 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43891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were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from another hospital first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93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motive: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accident victim should lose the golden hour to phone calls and the wrong hospital.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784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golden hour goes on a national highway</a:t>
            </a:r>
            <a:endParaRPr lang="en-US" sz="1600" dirty="0"/>
          </a:p>
        </p:txBody>
      </p:sp>
      <p:pic>
        <p:nvPicPr>
          <p:cNvPr id="4" name="Image 0" descr="Timeline of the golden hour on a national highway: ambulance reaches scene in 25-35 min, nearest hospital 15-25 min, then referred onw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" y="1367942"/>
            <a:ext cx="7998257" cy="11576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56946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225 victims, relatives and rescuers: total time to emergency care was </a:t>
            </a: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 minutes or more</a:t>
            </a: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44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minutes lost before treatment starts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told late; can't share medical history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crews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view of free beds or specialists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unprepared arrivals, overload, re-referrals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hear of the ambulance only when it is stuck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89704" y="3044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victims missed the golden hour</a:t>
            </a:r>
            <a:endParaRPr lang="en-US" sz="1600" dirty="0"/>
          </a:p>
        </p:txBody>
      </p:sp>
      <p:graphicFrame>
        <p:nvGraphicFramePr>
          <p:cNvPr id="9" name="Chart 0" descr="Bar chart: no vehicle available 27.5%, delay in communication 21.1%, long travel time 14.6%, didn't know a nearby facility 13.9%"/>
          <p:cNvGraphicFramePr/>
          <p:nvPr/>
        </p:nvGraphicFramePr>
        <p:xfrm>
          <a:off x="4160520" y="3364992"/>
          <a:ext cx="47548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489704" y="47731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one of these is an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or coordination gap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exactly what software can close.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Gaps &amp; Challenges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33272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≠ ready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Victims go to the closest hospital whether or not it has trauma care, then get referred again. In Delhi,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35%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crashes are 30+ min from a trauma centre.</a:t>
            </a:r>
            <a:endParaRPr lang="en-US" sz="14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view of capacity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India has about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beds per 1,000 people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yet no shared, live view of free beds, ICUs or specialists. Bed portals exist only as pilots.</a:t>
            </a:r>
            <a:endParaRPr lang="en-US" sz="14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called separately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108/112, police, hospital and family are told one by one. In disaster tele-consult systems, credentialing an outside specialist took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25–72 hours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54000" indent="-2540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solve one piece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SOS apps alert contacts; bed trackers show beds; research systems (MediPath, CARESYNC, EMCON) each cover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subsystem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" y="3803904"/>
            <a:ext cx="8065008" cy="1161288"/>
          </a:xfrm>
          <a:prstGeom prst="roundRect">
            <a:avLst>
              <a:gd name="adj" fmla="val 551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" y="3803904"/>
            <a:ext cx="8065008" cy="347472"/>
          </a:xfrm>
          <a:prstGeom prst="roundRect">
            <a:avLst>
              <a:gd name="adj" fmla="val 18421"/>
            </a:avLst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539496" y="4041648"/>
            <a:ext cx="806500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803904"/>
            <a:ext cx="7882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unsolved challenge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reviewing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studies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found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deployed platform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runs the whole chain as one workflow: </a:t>
            </a: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→ dispatch → right hospital → police, volunteers, doctors and family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Evidence for integrating traffic police and verified volunteers is the thinnest of all.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332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integrated emergency-coordination platform: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accident report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sets every responder in motion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pic>
        <p:nvPicPr>
          <p:cNvPr id="4" name="Image 0" descr="Hub diagram: one accident report triggers ambulance, right hospital, traffic police, volunteers and doctors, neighbouring hospitals, and medical profile and fami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6562"/>
            <a:ext cx="7498994" cy="26096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63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not sequential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all six start from one report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not nearest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the right hospital the first time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accountable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every minute &amp; access logged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200" dirty="0"/>
          </a:p>
        </p:txBody>
      </p:sp>
      <p:pic>
        <p:nvPicPr>
          <p:cNvPr id="3" name="Image 0" descr="Architecture: Report (citizen app, 108/112 operator, live feeds) to QuickER core (incident engine, smart matcher, alert orchestrator, profile vault) to Respond (ambulance crew, hospital ER, traffic police, volunteers and doctors, famil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" y="989381"/>
            <a:ext cx="7901330" cy="249356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62102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opens an incident; the matcher ranks hospitals by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beds, specialty and live-traffic ETA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distance); the orchestrator alerts all responders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ER sees the victim's profile through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break-glass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access.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496" y="4507992"/>
            <a:ext cx="806500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(planned)</a:t>
            </a:r>
            <a:endParaRPr lang="en-US" sz="1400" dirty="0"/>
          </a:p>
        </p:txBody>
      </p:sp>
      <p:pic>
        <p:nvPicPr>
          <p:cNvPr id="7" name="Image 1" descr="Tech stack: Flutter and React frontends; Python FastAPI, WebSockets, Firebase Cloud Messaging, SMS gateway; PostgreSQL + PostGIS, Redis; multi-criteria hospital ranking, NLP triage, Google Maps / OSRM, ABHA health 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70" y="5032858"/>
            <a:ext cx="7608722" cy="9838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2200" dirty="0"/>
          </a:p>
        </p:txBody>
      </p:sp>
      <p:pic>
        <p:nvPicPr>
          <p:cNvPr id="3" name="Image 0" descr="Comparison table: QuickER covers all six capabilities; 108/112, SOS apps, bed portals and research systems each cover only s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" y="1351483"/>
            <a:ext cx="7926019" cy="2578608"/>
          </a:xfrm>
          <a:prstGeom prst="rect">
            <a:avLst/>
          </a:prstGeom>
        </p:spPr>
      </p:pic>
      <p:pic>
        <p:nvPicPr>
          <p:cNvPr id="4" name="Image 1" descr="Legend: tick yes, half circle partly, cross 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111" y="4040734"/>
            <a:ext cx="5535778" cy="1746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455371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not sequential: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report triggers all six responders together, not a chain of calls.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not nearest: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Hospital picked on free beds, specialist on duty and live ETA.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auditable: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Break-glass medical access in seconds, every access logged.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in 4 phases (the order our research recommends)</a:t>
            </a:r>
            <a:endParaRPr lang="en-US" sz="1600" dirty="0"/>
          </a:p>
        </p:txBody>
      </p:sp>
      <p:pic>
        <p:nvPicPr>
          <p:cNvPr id="4" name="Image 0" descr="Rollout timeline: Phase 1 ambulance to right hospital, Phase 2 secure medical profile, Phase 3 cross-hospital escalation, Phase 4 police and volunte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" y="1364285"/>
            <a:ext cx="7748626" cy="8549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25856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biotech layer (wearable auto-alerts, snakebite → antivenom-hospital routing, outbreak hotspot detection) and traffic-signal pre-emption.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834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45536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 on its own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hospital matching in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symptom-to-specialty accuracy; emergency record access in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500 ms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India's existing rails: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108/112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 IDs, map and SMS APIs. No new hardware.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MVP that our team can build on an open-source stack.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754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566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→ district → state on cloud services; a hospital joins through a web dashboard.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extends to the future-scope modules above.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965192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600" dirty="0"/>
          </a:p>
        </p:txBody>
      </p:sp>
      <p:pic>
        <p:nvPicPr>
          <p:cNvPr id="11" name="Image 1" descr="Risks and mitigations: hospitals not updating beds, medical-data privacy, fake or duplicate reports, weak network on highway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95828"/>
            <a:ext cx="3755441" cy="2187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 Product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of a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pilot in one city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(software only, built by our team):</a:t>
            </a:r>
            <a:endParaRPr lang="en-US" sz="1600" dirty="0"/>
          </a:p>
        </p:txBody>
      </p:sp>
      <p:pic>
        <p:nvPicPr>
          <p:cNvPr id="4" name="Image 0" descr="Cost table for a 12-month single-city pilot, estimated total about Rs. 3.6 lak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" y="1589227"/>
            <a:ext cx="7877556" cy="35478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" y="5248656"/>
            <a:ext cx="8065008" cy="1033272"/>
          </a:xfrm>
          <a:prstGeom prst="roundRect">
            <a:avLst>
              <a:gd name="adj" fmla="val 708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" y="5358384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 for citizens, always. Funded through state 108/112 and health-department integration, a hospital dashboard subscription, and CSR / insurer partnerships. Each extra city mainly adds hosting, API, SMS and training costs (≈ Rs. 3 lakh per year).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093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planning estimates for an idea-stage pilot and will be refined with partner quotes.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9496" y="1353312"/>
            <a:ext cx="2596896" cy="3840480"/>
          </a:xfrm>
          <a:prstGeom prst="roundRect">
            <a:avLst>
              <a:gd name="adj" fmla="val 246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1353312"/>
            <a:ext cx="2596896" cy="36576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" y="1609344"/>
            <a:ext cx="2596896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533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| Road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810512"/>
            <a:ext cx="24140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crash at night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bike rider is hit on a national highway; a passing truck driver taps </a:t>
            </a: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QuickER does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free ambulance dispatched; its route goes to the traffic police control room.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clinic with no CT scan; picks the trauma centre with a free ICU bed and a neurosurgeon.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gets blood group &amp; allergies; family gets an SMS with the hospital name.</a:t>
            </a:r>
            <a:endParaRPr lang="en-US" sz="12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right hospital the first time, no re-referral.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1353312"/>
            <a:ext cx="2596896" cy="3520440"/>
          </a:xfrm>
          <a:prstGeom prst="roundRect">
            <a:avLst>
              <a:gd name="adj" fmla="val 2465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353312"/>
            <a:ext cx="2596896" cy="36576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3273552" y="1609344"/>
            <a:ext cx="2596896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74136" y="13533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| Home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810512"/>
            <a:ext cx="241401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arrest at home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58-year-old collapses in his flat; his daughter taps </a:t>
            </a: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QuickER does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CPR-trained verified volunteer 300 m away is alerted and arrives first.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nearby doctor is looped in to guide the volunteer by phone.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routed to the hospital with a free cath lab; cardiologist alerted before arrival.</a:t>
            </a:r>
            <a:endParaRPr lang="en-US" sz="12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CPR starts within minutes; cath lab ready on arrival.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07608" y="1353312"/>
            <a:ext cx="2596896" cy="3291840"/>
          </a:xfrm>
          <a:prstGeom prst="roundRect">
            <a:avLst>
              <a:gd name="adj" fmla="val 2465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07608" y="1353312"/>
            <a:ext cx="2596896" cy="36576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6007608" y="1609344"/>
            <a:ext cx="2596896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08192" y="13533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| Surge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1810512"/>
            <a:ext cx="2414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accident, 30 injured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mass-casualty crash; the district hospital has only 6 free beds.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QuickER does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spread across 4 hospitals by free beds and specialty.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Orthopaedic &amp; burns specialists and blood units requested from neighbouring hospitals.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control room runs one ambulance corridor for all trips.</a:t>
            </a:r>
            <a:endParaRPr lang="en-US" sz="12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hospital overwhelmed; every patient tracked live.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and Benefits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&amp; families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in minutes from verified volunteers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hospital the first time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informed instantly; history shared safely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10128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responders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1426464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prepared before the patient arrives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shared across hospitals in surges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trips and transfers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0176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&amp; government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80176" y="1426464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road deaths and lifelong disabilities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Crash-hotspot data for road-safety planning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layer over 108/112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for our pilot</a:t>
            </a:r>
            <a:endParaRPr lang="en-US" sz="1600" dirty="0"/>
          </a:p>
        </p:txBody>
      </p:sp>
      <p:pic>
        <p:nvPicPr>
          <p:cNvPr id="10" name="Image 0" descr="Pilot outcomes: under 30 s to match a hospital (MediPath benchmark); 44% less on-scene time with a doctor at dispatch; 75% of victims reaching care in the golden hour (target, 55% today); 50% fewer re-referrals (targe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725266"/>
            <a:ext cx="7808062" cy="12637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Goals (SDGs)</a:t>
            </a:r>
            <a:endParaRPr lang="en-US" sz="2200" dirty="0"/>
          </a:p>
        </p:txBody>
      </p:sp>
      <p:pic>
        <p:nvPicPr>
          <p:cNvPr id="3" name="Image 0" descr="SDG table: SDG 3 targets 3.6, 3.8 and 3.d (Good Health and Well-being) and SDG 11 target 11.5 (Sustainable Cities and Communitie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" y="1351483"/>
            <a:ext cx="8144561" cy="36630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Member Contribution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3544" y="1371600"/>
          <a:ext cx="7296912" cy="4169664"/>
        </p:xfrm>
        <a:graphic>
          <a:graphicData uri="http://schemas.openxmlformats.org/drawingml/2006/table">
            <a:tbl>
              <a:tblPr/>
              <a:tblGrid>
                <a:gridCol w="207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or responsibility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Shreyas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Conducted surveys, analyzed existing emergency response systems and identified the problem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Shabarish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the technical architecture and planned the system workflow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Sandilya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feasibility, estimated costs and analyzed impacts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Pranav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the proposed solution concept and coordinated presentation content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6400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Yukti 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56232" y="1773936"/>
            <a:ext cx="5431536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3048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48" y="1581912"/>
            <a:ext cx="1517904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48" y="15819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Yukti ID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856232" y="1874520"/>
            <a:ext cx="5431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/>
              <a:t>IR20261051032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986784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r>
              <a:rPr lang="en-US" sz="2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0" y="446227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accident report. Every responder. Zero lost minutes.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0" y="4983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ER Genesis">
  <a:themeElements>
    <a:clrScheme name="QuickER Genesis">
      <a:dk1>
        <a:srgbClr val="000000"/>
      </a:dk1>
      <a:lt1>
        <a:srgbClr val="FFFFFF"/>
      </a:lt1>
      <a:dk2>
        <a:srgbClr val="164B33"/>
      </a:dk2>
      <a:lt2>
        <a:srgbClr val="E1F1E7"/>
      </a:lt2>
      <a:accent1>
        <a:srgbClr val="236946"/>
      </a:accent1>
      <a:accent2>
        <a:srgbClr val="BE3028"/>
      </a:accent2>
      <a:accent3>
        <a:srgbClr val="D68C1E"/>
      </a:accent3>
      <a:accent4>
        <a:srgbClr val="696969"/>
      </a:accent4>
      <a:accent5>
        <a:srgbClr val="7BA590"/>
      </a:accent5>
      <a:accent6>
        <a:srgbClr val="F3F9F5"/>
      </a:accent6>
      <a:hlink>
        <a:srgbClr val="236946"/>
      </a:hlink>
      <a:folHlink>
        <a:srgbClr val="164B33"/>
      </a:folHlink>
    </a:clrScheme>
    <a:fontScheme name="QuickER Genes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1320</Words>
  <Application>Microsoft Office PowerPoint</Application>
  <PresentationFormat>On-screen Show (4:3)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QuickER Genesis</vt:lpstr>
      <vt:lpstr>Genesis Ideathon: Final Presentation</vt:lpstr>
      <vt:lpstr>Presentation Outline</vt:lpstr>
      <vt:lpstr>Problem Statement</vt:lpstr>
      <vt:lpstr>Problem Understanding</vt:lpstr>
      <vt:lpstr>Existing Gaps &amp; Challenges</vt:lpstr>
      <vt:lpstr>Our Proposed Solution</vt:lpstr>
      <vt:lpstr>Technical Approach</vt:lpstr>
      <vt:lpstr>Innovation &amp; Uniqueness</vt:lpstr>
      <vt:lpstr>Feasibility &amp; Scalability</vt:lpstr>
      <vt:lpstr>Cost for Product</vt:lpstr>
      <vt:lpstr>Use Cases</vt:lpstr>
      <vt:lpstr>Impacts and Benefits</vt:lpstr>
      <vt:lpstr>Sustainable Development Goals (SDGs)</vt:lpstr>
      <vt:lpstr>Individual Member Contribution</vt:lpstr>
      <vt:lpstr>Yukti ID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QuickER - Genesis Ideathon Final Presentation</dc:title>
  <dc:subject>PptxGenJS Presentation</dc:subject>
  <dc:creator>Team QuickER</dc:creator>
  <cp:lastModifiedBy>ravi shreyas</cp:lastModifiedBy>
  <cp:revision>3</cp:revision>
  <dcterms:created xsi:type="dcterms:W3CDTF">2026-10-11T08:12:36Z</dcterms:created>
  <dcterms:modified xsi:type="dcterms:W3CDTF">2026-10-11T08:16:08Z</dcterms:modified>
</cp:coreProperties>
</file>