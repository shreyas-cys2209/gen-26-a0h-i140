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67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QuickER. Domain: Healthcare (pre-hospital emergency care). One line: accident victims lose the golden hour because bystanders, ambulances, police and hospitals do not act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the one-line statement. Then: five places where the golden hour is lost. Why now: 1.72 lakh deaths a year, half avoidable, and the government has just put the money and legal protection in place - what is missing is the connecting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users are the people at the scene. Secondary stakeholders are the responders who each hold a piece of the response. If it is solved, patients, hospitals, government and society all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today's flow left to right. The red tags are where minutes are lost. Key data: almost 15 minutes just for the ambulance to arrive in Tamil Nadu, only 34% of hospital ambulances have trained paramedics, and 41% of patients get shifted to another hospital.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bottlenecks, in the order they happen. All of them come from one root cause: nobody sees the whole emergency. If we leave it, people keep dying of injuries that were treatable, and bystanders keep staying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existing approach covers one or two parts of the chain. Read down any column: no row except ours is green across. 108 needs a call, the panic button is only a call, private apps need the victim to book, and the new schemes pay for care but do not make it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Insight first: India already has the health ID, the accident database, the 108 network and the money for treatment. QuickER is the missing connection. Resources are modest: phones, QR stickers, an ER screen, a standard web stack, and a small set of pilot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direction: QuickER, one live platform with six parts. How it works in one line: one tap, one match, everyone alerted together, quick handover, record closed automatically. We will measure success in a 3-month pilot on alarm-to-dispatch time, scene-to-hospital time, ER readiness and handover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31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2" name="Event Title"/>
          <p:cNvSpPr txBox="1"/>
          <p:nvPr/>
        </p:nvSpPr>
        <p:spPr>
          <a:xfrm>
            <a:off x="548640" y="517382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414016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445770" y="3309568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</a:t>
            </a:r>
            <a:r>
              <a:rPr sz="1800" b="1" dirty="0">
                <a:solidFill>
                  <a:srgbClr val="FFFFFF"/>
                </a:solidFill>
              </a:rPr>
              <a:t>  </a:t>
            </a:r>
            <a:r>
              <a:rPr sz="1800" b="1" dirty="0" err="1">
                <a:solidFill>
                  <a:srgbClr val="FFFFFF"/>
                </a:solidFill>
              </a:rPr>
              <a:t>QuickER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 </a:t>
            </a:r>
            <a:r>
              <a:rPr lang="en-US" dirty="0">
                <a:solidFill>
                  <a:schemeClr val="bg1"/>
                </a:solidFill>
              </a:rPr>
              <a:t>Shreyas R, SHABARISH B , Pranav </a:t>
            </a:r>
            <a:r>
              <a:rPr lang="en-US" dirty="0" err="1">
                <a:solidFill>
                  <a:schemeClr val="bg1"/>
                </a:solidFill>
              </a:rPr>
              <a:t>Abuvarajan</a:t>
            </a:r>
            <a:r>
              <a:rPr lang="en-US" dirty="0">
                <a:solidFill>
                  <a:schemeClr val="bg1"/>
                </a:solidFill>
              </a:rPr>
              <a:t>, Sandilya </a:t>
            </a:r>
            <a:r>
              <a:rPr lang="en-US" dirty="0" err="1">
                <a:solidFill>
                  <a:schemeClr val="bg1"/>
                </a:solidFill>
              </a:rPr>
              <a:t>kodavatikanti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Tx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Healthcare, Biotechnology &amp; Human Well-being</a:t>
            </a:r>
            <a:endParaRPr lang="en-US" b="1" dirty="0">
              <a:solidFill>
                <a:schemeClr val="bg1"/>
              </a:solidFill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Tx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</a:t>
            </a:r>
            <a:r>
              <a:rPr sz="1800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 Emergency</a:t>
            </a:r>
            <a:r>
              <a:rPr sz="1800" b="1" dirty="0">
                <a:solidFill>
                  <a:srgbClr val="FFFFFF"/>
                </a:solidFill>
              </a:rPr>
              <a:t> victims lose the golden hour because emergency response is slow and uncoordinated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 QuickER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26" name="Statement"/>
          <p:cNvSpPr/>
          <p:nvPr/>
        </p:nvSpPr>
        <p:spPr>
          <a:xfrm>
            <a:off x="548640" y="2029968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7240" y="2180844"/>
            <a:ext cx="566928" cy="566928"/>
          </a:xfrm>
          <a:prstGeom prst="ellipse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8" name="Picture 27" descr="FaHeartPulse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2" y="2316906"/>
            <a:ext cx="294802" cy="2948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54480" y="2029968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i="0">
                <a:solidFill>
                  <a:srgbClr val="7AC143"/>
                </a:solidFill>
                <a:latin typeface="Cambria"/>
              </a:rPr>
              <a:t>In our words: </a:t>
            </a:r>
            <a:r>
              <a:rPr sz="1700" b="0" i="0">
                <a:solidFill>
                  <a:srgbClr val="FFFFFF"/>
                </a:solidFill>
                <a:latin typeface="Cambria"/>
              </a:rPr>
              <a:t>accident victims in India lose the golden hour — not because help doesn't exist, but because the people who could help don't find out in time.</a:t>
            </a:r>
          </a:p>
        </p:txBody>
      </p:sp>
      <p:sp>
        <p:nvSpPr>
          <p:cNvPr id="30" name="Hexagon 29"/>
          <p:cNvSpPr/>
          <p:nvPr/>
        </p:nvSpPr>
        <p:spPr>
          <a:xfrm>
            <a:off x="548640" y="3136391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3127248"/>
            <a:ext cx="55046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26855"/>
                </a:solidFill>
              </a:rPr>
              <a:t>What exactly needs to be solved?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584448"/>
            <a:ext cx="59893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0080" y="3630168"/>
            <a:ext cx="365760" cy="365760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4" name="Picture 33" descr="FaBellSlash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5" y="3712463"/>
            <a:ext cx="201168" cy="2011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43000" y="358444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0E2A2F"/>
                </a:solidFill>
              </a:rPr>
              <a:t>Late alarm  </a:t>
            </a:r>
            <a:r>
              <a:rPr sz="1350" b="0" i="0">
                <a:solidFill>
                  <a:srgbClr val="5B6F6B"/>
                </a:solidFill>
              </a:rPr>
              <a:t>Victim can't call; bystanders hesitate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096512"/>
            <a:ext cx="59893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0080" y="4142232"/>
            <a:ext cx="365760" cy="365760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8" name="Picture 37" descr="FaKitMedical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5" y="4224528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43000" y="4096512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0E2A2F"/>
                </a:solidFill>
              </a:rPr>
              <a:t>No first aid  </a:t>
            </a:r>
            <a:r>
              <a:rPr sz="1350" b="0" i="0">
                <a:solidFill>
                  <a:srgbClr val="5B6F6B"/>
                </a:solidFill>
              </a:rPr>
              <a:t>Trained people nearby are never told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608576"/>
            <a:ext cx="59893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0080" y="4654296"/>
            <a:ext cx="365760" cy="365760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2" name="Picture 41" descr="FaTruckMedical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5" y="4736592"/>
            <a:ext cx="201168" cy="201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43000" y="4608576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0E2A2F"/>
                </a:solidFill>
              </a:rPr>
              <a:t>Slow ambulance  </a:t>
            </a:r>
            <a:r>
              <a:rPr sz="1350" b="0" i="0">
                <a:solidFill>
                  <a:srgbClr val="5B6F6B"/>
                </a:solidFill>
              </a:rPr>
              <a:t>No patient details; stuck at signals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120640"/>
            <a:ext cx="59893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0080" y="5166360"/>
            <a:ext cx="365760" cy="365760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6" name="Picture 45" descr="FaHospital_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5" y="5248656"/>
            <a:ext cx="201168" cy="20116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43000" y="51206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0E2A2F"/>
                </a:solidFill>
              </a:rPr>
              <a:t>Wrong or unready hospital  </a:t>
            </a:r>
            <a:r>
              <a:rPr sz="1350" b="0" i="0">
                <a:solidFill>
                  <a:srgbClr val="5B6F6B"/>
                </a:solidFill>
              </a:rPr>
              <a:t>No live bed data; ER learns at the door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632704"/>
            <a:ext cx="59893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40080" y="5678424"/>
            <a:ext cx="365760" cy="365760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0" name="Picture 49" descr="FaFileLines_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75" y="5760720"/>
            <a:ext cx="201168" cy="20116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43000" y="5632704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0E2A2F"/>
                </a:solidFill>
              </a:rPr>
              <a:t>Paperwork after  </a:t>
            </a:r>
            <a:r>
              <a:rPr sz="1350" b="0" i="0">
                <a:solidFill>
                  <a:srgbClr val="5B6F6B"/>
                </a:solidFill>
              </a:rPr>
              <a:t>Drivers and bystanders lose hours</a:t>
            </a:r>
          </a:p>
        </p:txBody>
      </p:sp>
      <p:sp>
        <p:nvSpPr>
          <p:cNvPr id="52" name="Hexagon 51"/>
          <p:cNvSpPr/>
          <p:nvPr/>
        </p:nvSpPr>
        <p:spPr>
          <a:xfrm>
            <a:off x="6903720" y="3136391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42631" y="3127248"/>
            <a:ext cx="43159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26855"/>
                </a:solidFill>
              </a:rPr>
              <a:t>Why is it important right now?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03720" y="3584448"/>
            <a:ext cx="473659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59168" y="3584448"/>
            <a:ext cx="16002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026855"/>
                </a:solidFill>
                <a:latin typeface="Cambria"/>
              </a:rPr>
              <a:t>1,72,890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639312"/>
            <a:ext cx="283464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0E2A2F"/>
                </a:solidFill>
              </a:rPr>
              <a:t>road deaths in India in 2023 — about 20 every hour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03720" y="4443983"/>
            <a:ext cx="473659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59168" y="4443983"/>
            <a:ext cx="16002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026855"/>
                </a:solidFill>
                <a:latin typeface="Cambria"/>
              </a:rPr>
              <a:t>50%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498847"/>
            <a:ext cx="283464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0E2A2F"/>
                </a:solidFill>
              </a:rPr>
              <a:t>of these deaths could be avoided if victims reach hospital within the golden hour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03720" y="5303519"/>
            <a:ext cx="4736592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59168" y="5303519"/>
            <a:ext cx="16002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600" b="1" i="0">
                <a:solidFill>
                  <a:srgbClr val="026855"/>
                </a:solidFill>
                <a:latin typeface="Cambria"/>
              </a:rPr>
              <a:t>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358383"/>
            <a:ext cx="2834640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0E2A2F"/>
                </a:solidFill>
              </a:rPr>
              <a:t>Govt launched ₹1.5 lakh cashless treatment and a ₹25,000 Good Samaritan reward — the system is ready to be connected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QuickER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2029968"/>
            <a:ext cx="3611880" cy="4142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2029968"/>
            <a:ext cx="3611880" cy="530352"/>
          </a:xfrm>
          <a:prstGeom prst="roundRect">
            <a:avLst>
              <a:gd name="adj" fmla="val 18000"/>
            </a:avLst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Hexagon 27"/>
          <p:cNvSpPr/>
          <p:nvPr/>
        </p:nvSpPr>
        <p:spPr>
          <a:xfrm>
            <a:off x="713232" y="2157984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2029968"/>
            <a:ext cx="2880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Primary users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2779776"/>
            <a:ext cx="475488" cy="475488"/>
          </a:xfrm>
          <a:prstGeom prst="ellipse">
            <a:avLst/>
          </a:prstGeom>
          <a:solidFill>
            <a:srgbClr val="EA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1" name="Picture 30" descr="FaUserInjured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" y="2886760"/>
            <a:ext cx="261518" cy="26151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53312" y="2743200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Accident victims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Often unconscious; can't call or share medical history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3621024"/>
            <a:ext cx="475488" cy="475488"/>
          </a:xfrm>
          <a:prstGeom prst="ellipse">
            <a:avLst/>
          </a:prstGeom>
          <a:solidFill>
            <a:srgbClr val="EA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4" name="Picture 33" descr="FaRoad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" y="3728008"/>
            <a:ext cx="261518" cy="2615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53312" y="3584448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Two-wheeler riders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Most at risk: 44.8% of road deaths in 2023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4462272"/>
            <a:ext cx="475488" cy="475488"/>
          </a:xfrm>
          <a:prstGeom prst="ellipse">
            <a:avLst/>
          </a:prstGeom>
          <a:solidFill>
            <a:srgbClr val="EA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7" name="Picture 36" descr="FaPeopleGroup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504" y="4569256"/>
            <a:ext cx="261518" cy="26151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53312" y="4425696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Bystanders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Want to help but fear the police; don't know first aid</a:t>
            </a:r>
          </a:p>
        </p:txBody>
      </p:sp>
      <p:sp>
        <p:nvSpPr>
          <p:cNvPr id="39" name="Oval 38"/>
          <p:cNvSpPr/>
          <p:nvPr/>
        </p:nvSpPr>
        <p:spPr>
          <a:xfrm>
            <a:off x="731520" y="5303520"/>
            <a:ext cx="475488" cy="475488"/>
          </a:xfrm>
          <a:prstGeom prst="ellipse">
            <a:avLst/>
          </a:prstGeom>
          <a:solidFill>
            <a:srgbClr val="EA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0" name="Picture 39" descr="FaHouseUser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" y="5410504"/>
            <a:ext cx="261518" cy="26151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353312" y="5266944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Families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Learn late; don't know which hospital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88536" y="2029968"/>
            <a:ext cx="3611880" cy="4142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288536" y="2029968"/>
            <a:ext cx="3611880" cy="530352"/>
          </a:xfrm>
          <a:prstGeom prst="roundRect">
            <a:avLst>
              <a:gd name="adj" fmla="val 18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Hexagon 43"/>
          <p:cNvSpPr/>
          <p:nvPr/>
        </p:nvSpPr>
        <p:spPr>
          <a:xfrm>
            <a:off x="4453127" y="2157984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0327" y="2029968"/>
            <a:ext cx="2880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Secondary stakeholders</a:t>
            </a:r>
          </a:p>
        </p:txBody>
      </p:sp>
      <p:sp>
        <p:nvSpPr>
          <p:cNvPr id="46" name="Oval 45"/>
          <p:cNvSpPr/>
          <p:nvPr/>
        </p:nvSpPr>
        <p:spPr>
          <a:xfrm>
            <a:off x="4471416" y="2779776"/>
            <a:ext cx="475488" cy="475488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7" name="Picture 46" descr="FaTruckMedical_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8400" y="2886760"/>
            <a:ext cx="261518" cy="26151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93207" y="2743200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Ambulance crews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No patient details; stuck in traffic; held up after a death in transit</a:t>
            </a:r>
          </a:p>
        </p:txBody>
      </p:sp>
      <p:sp>
        <p:nvSpPr>
          <p:cNvPr id="49" name="Oval 48"/>
          <p:cNvSpPr/>
          <p:nvPr/>
        </p:nvSpPr>
        <p:spPr>
          <a:xfrm>
            <a:off x="4471416" y="3621024"/>
            <a:ext cx="475488" cy="475488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0" name="Picture 49" descr="FaHospital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8400" y="3728008"/>
            <a:ext cx="261518" cy="26151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093207" y="3584448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Hospital ER teams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No notice before arrival; bed and doctor not ready</a:t>
            </a:r>
          </a:p>
        </p:txBody>
      </p:sp>
      <p:sp>
        <p:nvSpPr>
          <p:cNvPr id="52" name="Oval 51"/>
          <p:cNvSpPr/>
          <p:nvPr/>
        </p:nvSpPr>
        <p:spPr>
          <a:xfrm>
            <a:off x="4471416" y="4462272"/>
            <a:ext cx="475488" cy="475488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3" name="Picture 52" descr="FaUserShield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8400" y="4569256"/>
            <a:ext cx="261518" cy="26151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093207" y="4425696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Traffic police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No warning to clear junctions</a:t>
            </a:r>
          </a:p>
        </p:txBody>
      </p:sp>
      <p:sp>
        <p:nvSpPr>
          <p:cNvPr id="55" name="Oval 54"/>
          <p:cNvSpPr/>
          <p:nvPr/>
        </p:nvSpPr>
        <p:spPr>
          <a:xfrm>
            <a:off x="4471416" y="5303520"/>
            <a:ext cx="475488" cy="475488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6" name="Picture 55" descr="FaUserNurse_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8400" y="5410504"/>
            <a:ext cx="261518" cy="26151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093207" y="5266944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Nearby nurses and doctors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Could help in minutes but are never told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28431" y="2029968"/>
            <a:ext cx="3611880" cy="4142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028431" y="2029968"/>
            <a:ext cx="3611880" cy="530352"/>
          </a:xfrm>
          <a:prstGeom prst="roundRect">
            <a:avLst>
              <a:gd name="adj" fmla="val 18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Hexagon 59"/>
          <p:cNvSpPr/>
          <p:nvPr/>
        </p:nvSpPr>
        <p:spPr>
          <a:xfrm>
            <a:off x="8193023" y="2157984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50224" y="2029968"/>
            <a:ext cx="288036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Who benefits if it is solved</a:t>
            </a:r>
          </a:p>
        </p:txBody>
      </p:sp>
      <p:sp>
        <p:nvSpPr>
          <p:cNvPr id="62" name="Oval 61"/>
          <p:cNvSpPr/>
          <p:nvPr/>
        </p:nvSpPr>
        <p:spPr>
          <a:xfrm>
            <a:off x="8211311" y="2779776"/>
            <a:ext cx="475488" cy="475488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3" name="Picture 62" descr="FaHeartPulse_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296" y="2886760"/>
            <a:ext cx="261518" cy="26151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833104" y="2743200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Patients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More survive; fewer lifelong disabilities</a:t>
            </a:r>
          </a:p>
        </p:txBody>
      </p:sp>
      <p:sp>
        <p:nvSpPr>
          <p:cNvPr id="65" name="Oval 64"/>
          <p:cNvSpPr/>
          <p:nvPr/>
        </p:nvSpPr>
        <p:spPr>
          <a:xfrm>
            <a:off x="8211311" y="3621024"/>
            <a:ext cx="475488" cy="475488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6" name="Picture 65" descr="FaHospitalUser_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296" y="3728008"/>
            <a:ext cx="261518" cy="26151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833104" y="3584448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Hospitals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ER ready on arrival; accident cases paid under the cashless scheme</a:t>
            </a:r>
          </a:p>
        </p:txBody>
      </p:sp>
      <p:sp>
        <p:nvSpPr>
          <p:cNvPr id="68" name="Oval 67"/>
          <p:cNvSpPr/>
          <p:nvPr/>
        </p:nvSpPr>
        <p:spPr>
          <a:xfrm>
            <a:off x="8211311" y="4462272"/>
            <a:ext cx="475488" cy="475488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9" name="Picture 68" descr="FaLandmark_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296" y="4569256"/>
            <a:ext cx="261518" cy="26151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833104" y="4425696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Government and 108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Schemes actually used; better accident data</a:t>
            </a:r>
          </a:p>
        </p:txBody>
      </p:sp>
      <p:sp>
        <p:nvSpPr>
          <p:cNvPr id="71" name="Oval 70"/>
          <p:cNvSpPr/>
          <p:nvPr/>
        </p:nvSpPr>
        <p:spPr>
          <a:xfrm>
            <a:off x="8211311" y="5303520"/>
            <a:ext cx="475488" cy="475488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2" name="Picture 71" descr="FaUsers_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296" y="5410504"/>
            <a:ext cx="261518" cy="26151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833104" y="5266944"/>
            <a:ext cx="2670048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E2A2F"/>
                </a:solidFill>
              </a:rPr>
              <a:t>Society</a:t>
            </a:r>
          </a:p>
          <a:p>
            <a:pPr algn="l"/>
            <a:r>
              <a:rPr sz="1200" b="0" i="0">
                <a:solidFill>
                  <a:srgbClr val="5B6F6B"/>
                </a:solidFill>
              </a:rPr>
              <a:t>Fewer lives lost on our roads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QuickER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26" name="Hexagon 25"/>
          <p:cNvSpPr/>
          <p:nvPr/>
        </p:nvSpPr>
        <p:spPr>
          <a:xfrm>
            <a:off x="548640" y="2020824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2011680"/>
            <a:ext cx="45902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26855"/>
                </a:solidFill>
              </a:rPr>
              <a:t>Existing scenario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95728"/>
            <a:ext cx="50749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2432304"/>
            <a:ext cx="4754880" cy="8869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0E2A2F"/>
                </a:solidFill>
              </a:rPr>
              <a:t>Help depends on someone calling 108/112. The ambulance learns the patient's condition only on arrival, the hospital only at the door. Police, hospitals and ambulances run on separate systems.</a:t>
            </a:r>
          </a:p>
        </p:txBody>
      </p:sp>
      <p:sp>
        <p:nvSpPr>
          <p:cNvPr id="30" name="Hexagon 29"/>
          <p:cNvSpPr/>
          <p:nvPr/>
        </p:nvSpPr>
        <p:spPr>
          <a:xfrm>
            <a:off x="5897880" y="2020824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011680"/>
            <a:ext cx="52303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26855"/>
                </a:solidFill>
              </a:rPr>
              <a:t>Relevant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2395728"/>
            <a:ext cx="1371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9320" y="2432304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026855"/>
                </a:solidFill>
                <a:latin typeface="Cambria"/>
              </a:rPr>
              <a:t>14:48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816352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min average 108 response time (TN, 2021)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1776" y="2395728"/>
            <a:ext cx="1371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43216" y="2432304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026855"/>
                </a:solidFill>
                <a:latin typeface="Cambria"/>
              </a:rPr>
              <a:t>34%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2816352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of hospital ambulances have trained paramedics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5672" y="2395728"/>
            <a:ext cx="1371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97112" y="2432304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mbria"/>
              </a:rPr>
              <a:t>41%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7112" y="2816352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of patients shifted to another hospital (TN)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59568" y="2395728"/>
            <a:ext cx="13716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351008" y="2432304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mbria"/>
              </a:rPr>
              <a:t>74%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51008" y="2816352"/>
            <a:ext cx="11887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of bystanders unlikely to help a victim</a:t>
            </a:r>
          </a:p>
        </p:txBody>
      </p:sp>
      <p:sp>
        <p:nvSpPr>
          <p:cNvPr id="44" name="Hexagon 43"/>
          <p:cNvSpPr/>
          <p:nvPr/>
        </p:nvSpPr>
        <p:spPr>
          <a:xfrm>
            <a:off x="548640" y="3575303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3566160"/>
            <a:ext cx="68762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26855"/>
                </a:solidFill>
              </a:rPr>
              <a:t>Current workflow, step by step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005072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19556" y="4096512"/>
            <a:ext cx="475488" cy="47548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8" name="Picture 47" descr="FaCarBurs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673" y="4210629"/>
            <a:ext cx="247253" cy="24725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21792" y="4636008"/>
            <a:ext cx="12710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Accident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4919472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Victim injured, often unconscious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84248" y="4334256"/>
            <a:ext cx="158191" cy="0"/>
          </a:xfrm>
          <a:prstGeom prst="line">
            <a:avLst/>
          </a:prstGeom>
          <a:ln w="19050">
            <a:solidFill>
              <a:srgbClr val="5B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160727" y="4005072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631643" y="4096512"/>
            <a:ext cx="475488" cy="47548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4" name="Picture 53" descr="FaPhon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5760" y="4210629"/>
            <a:ext cx="247253" cy="24725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233879" y="4636008"/>
            <a:ext cx="12710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Someone calls 108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33879" y="4919472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If anyone calls at all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596335" y="4334256"/>
            <a:ext cx="158191" cy="0"/>
          </a:xfrm>
          <a:prstGeom prst="line">
            <a:avLst/>
          </a:prstGeom>
          <a:ln w="19050">
            <a:solidFill>
              <a:srgbClr val="5B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2160727" y="5550408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9" name="Picture 58" descr="FaTriangleExclamatio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2167" y="5669280"/>
            <a:ext cx="201168" cy="2011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489911" y="5550408"/>
            <a:ext cx="103327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</a:rPr>
              <a:t>Bystanders hesitate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869387" y="5422392"/>
            <a:ext cx="0" cy="128016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772814" y="4005072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4243730" y="4096512"/>
            <a:ext cx="475488" cy="47548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4" name="Picture 63" descr="FaTruckMedica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847" y="4210629"/>
            <a:ext cx="247253" cy="247253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45966" y="4636008"/>
            <a:ext cx="12710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Ambulance sent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5966" y="4919472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Crew knows nothing about patient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208422" y="4334256"/>
            <a:ext cx="158191" cy="0"/>
          </a:xfrm>
          <a:prstGeom prst="line">
            <a:avLst/>
          </a:prstGeom>
          <a:ln w="19050">
            <a:solidFill>
              <a:srgbClr val="5B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772814" y="5550408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9" name="Picture 68" descr="FaTriangleExclamatio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4254" y="5669280"/>
            <a:ext cx="201168" cy="2011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101998" y="5550408"/>
            <a:ext cx="103327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</a:rPr>
              <a:t>No patient details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481474" y="5422392"/>
            <a:ext cx="0" cy="128016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5384901" y="4005072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855817" y="4096512"/>
            <a:ext cx="475488" cy="47548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4" name="Picture 73" descr="FaTrafficLigh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9934" y="4210629"/>
            <a:ext cx="247253" cy="24725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458053" y="4636008"/>
            <a:ext cx="12710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Stuck in traffic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58053" y="4919472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Police not informed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820509" y="4334256"/>
            <a:ext cx="158191" cy="0"/>
          </a:xfrm>
          <a:prstGeom prst="line">
            <a:avLst/>
          </a:prstGeom>
          <a:ln w="19050">
            <a:solidFill>
              <a:srgbClr val="5B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5384901" y="5550408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9" name="Picture 78" descr="FaTriangleExclamatio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6341" y="5669280"/>
            <a:ext cx="201168" cy="2011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714085" y="5550408"/>
            <a:ext cx="103327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</a:rPr>
              <a:t>No green corridor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093561" y="5422392"/>
            <a:ext cx="0" cy="128016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6996988" y="4005072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7467904" y="4096512"/>
            <a:ext cx="475488" cy="47548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84" name="Picture 83" descr="FaHospital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2021" y="4210629"/>
            <a:ext cx="247253" cy="247253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0140" y="4636008"/>
            <a:ext cx="12710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Nearest hospital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0140" y="4919472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ER finds out at the door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432596" y="4334256"/>
            <a:ext cx="158192" cy="0"/>
          </a:xfrm>
          <a:prstGeom prst="line">
            <a:avLst/>
          </a:prstGeom>
          <a:ln w="19050">
            <a:solidFill>
              <a:srgbClr val="5B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6996988" y="5550408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89" name="Picture 88" descr="FaTriangleExclamatio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8428" y="5669280"/>
            <a:ext cx="201168" cy="2011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326172" y="5550408"/>
            <a:ext cx="103327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</a:rPr>
              <a:t>No bed or specialist?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705648" y="5422392"/>
            <a:ext cx="0" cy="128016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8609076" y="4005072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9079992" y="4096512"/>
            <a:ext cx="475488" cy="475488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94" name="Picture 93" descr="FaRightLef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4109" y="4210629"/>
            <a:ext cx="247253" cy="247253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682228" y="4636008"/>
            <a:ext cx="12710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Shifted again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2228" y="4919472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Transfer to a bigger hospital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044684" y="4334256"/>
            <a:ext cx="158191" cy="0"/>
          </a:xfrm>
          <a:prstGeom prst="line">
            <a:avLst/>
          </a:prstGeom>
          <a:ln w="19050">
            <a:solidFill>
              <a:srgbClr val="5B6F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8609076" y="5550408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99" name="Picture 98" descr="FaTriangleExclamatio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0516" y="5669280"/>
            <a:ext cx="201168" cy="20116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8938260" y="5550408"/>
            <a:ext cx="103327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</a:rPr>
              <a:t>41% transferred (TN)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9317736" y="5422392"/>
            <a:ext cx="0" cy="128016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10221163" y="4005072"/>
            <a:ext cx="1417320" cy="141732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0692079" y="4096512"/>
            <a:ext cx="475488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04" name="Picture 103" descr="FaHeartPuls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06196" y="4210629"/>
            <a:ext cx="247253" cy="247253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0294315" y="4636008"/>
            <a:ext cx="12710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Treatment starts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94315" y="4919472"/>
            <a:ext cx="127101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5B6F6B"/>
                </a:solidFill>
              </a:rPr>
              <a:t>Often after the golden hour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 QuickER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sp>
        <p:nvSpPr>
          <p:cNvPr id="26" name="Hexagon 25"/>
          <p:cNvSpPr/>
          <p:nvPr/>
        </p:nvSpPr>
        <p:spPr>
          <a:xfrm>
            <a:off x="548640" y="2002536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1993392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26855"/>
                </a:solidFill>
              </a:rPr>
              <a:t>Main bottlenecks (mind map)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4206240" y="2779776"/>
            <a:ext cx="836676" cy="859536"/>
          </a:xfrm>
          <a:prstGeom prst="curvedConnector3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206240" y="3639312"/>
            <a:ext cx="836676" cy="0"/>
          </a:xfrm>
          <a:prstGeom prst="curvedConnector3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206240" y="3639312"/>
            <a:ext cx="836676" cy="859536"/>
          </a:xfrm>
          <a:prstGeom prst="curvedConnector3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146036" y="2779776"/>
            <a:ext cx="836676" cy="859536"/>
          </a:xfrm>
          <a:prstGeom prst="curvedConnector3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46036" y="3639312"/>
            <a:ext cx="836676" cy="0"/>
          </a:xfrm>
          <a:prstGeom prst="curvedConnector3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46036" y="3639312"/>
            <a:ext cx="836676" cy="859536"/>
          </a:xfrm>
          <a:prstGeom prst="curvedConnector3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8640" y="2395728"/>
            <a:ext cx="365760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6656" y="2560320"/>
            <a:ext cx="438912" cy="438912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6" name="Picture 35" descr="FaBellSlash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11" y="2659075"/>
            <a:ext cx="241401" cy="2414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34440" y="2450592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E2A2F"/>
                </a:solidFill>
              </a:rPr>
              <a:t>1. Late alarm</a:t>
            </a:r>
          </a:p>
          <a:p>
            <a:pPr algn="l"/>
            <a:r>
              <a:rPr sz="1150" b="0" i="0">
                <a:solidFill>
                  <a:srgbClr val="5B6F6B"/>
                </a:solidFill>
              </a:rPr>
              <a:t>Victim unconscious; 74% of bystanders won't help; fear of police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255264"/>
            <a:ext cx="365760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6656" y="3419856"/>
            <a:ext cx="438912" cy="438912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0" name="Picture 39" descr="FaKitMedical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" y="3518611"/>
            <a:ext cx="241401" cy="2414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34440" y="3310128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E2A2F"/>
                </a:solidFill>
              </a:rPr>
              <a:t>2. No first aid</a:t>
            </a:r>
          </a:p>
          <a:p>
            <a:pPr algn="l"/>
            <a:r>
              <a:rPr sz="1150" b="0" i="0">
                <a:solidFill>
                  <a:srgbClr val="5B6F6B"/>
                </a:solidFill>
              </a:rPr>
              <a:t>Trained people nearby never told; bystanders untrained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114800"/>
            <a:ext cx="365760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76656" y="4279392"/>
            <a:ext cx="438912" cy="438912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4" name="Picture 43" descr="FaTruckMedical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11" y="4378147"/>
            <a:ext cx="241401" cy="24140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34440" y="4169663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E2A2F"/>
                </a:solidFill>
              </a:rPr>
              <a:t>3. Slow ambulance</a:t>
            </a:r>
          </a:p>
          <a:p>
            <a:pPr algn="l"/>
            <a:r>
              <a:rPr sz="1150" b="0" i="0">
                <a:solidFill>
                  <a:srgbClr val="5B6F6B"/>
                </a:solidFill>
              </a:rPr>
              <a:t>About 15 min to arrive; no patient details; no green corridor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82712" y="2395728"/>
            <a:ext cx="365760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110728" y="2560320"/>
            <a:ext cx="438912" cy="438912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8" name="Picture 47" descr="FaHospital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9483" y="2659075"/>
            <a:ext cx="241401" cy="241401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668512" y="2450592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E2A2F"/>
                </a:solidFill>
              </a:rPr>
              <a:t>4. Wrong hospital</a:t>
            </a:r>
          </a:p>
          <a:p>
            <a:pPr algn="l"/>
            <a:r>
              <a:rPr sz="1150" b="0" i="0">
                <a:solidFill>
                  <a:srgbClr val="5B6F6B"/>
                </a:solidFill>
              </a:rPr>
              <a:t>No live bed or specialist data; 41% shifted again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82712" y="3255264"/>
            <a:ext cx="365760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110728" y="3419856"/>
            <a:ext cx="438912" cy="438912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2" name="Picture 51" descr="FaLaptopMedical_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9483" y="3518611"/>
            <a:ext cx="241401" cy="24140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68512" y="3310128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E2A2F"/>
                </a:solidFill>
              </a:rPr>
              <a:t>5. Unready ER</a:t>
            </a:r>
          </a:p>
          <a:p>
            <a:pPr algn="l"/>
            <a:r>
              <a:rPr sz="1150" b="0" i="0">
                <a:solidFill>
                  <a:srgbClr val="5B6F6B"/>
                </a:solidFill>
              </a:rPr>
              <a:t>No notice before arrival; history and allergies unknown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82712" y="4114800"/>
            <a:ext cx="365760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110728" y="4279392"/>
            <a:ext cx="438912" cy="438912"/>
          </a:xfrm>
          <a:prstGeom prst="ellipse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6" name="Picture 55" descr="FaFileLines_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9483" y="4378147"/>
            <a:ext cx="241401" cy="24140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668512" y="4169663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0E2A2F"/>
                </a:solidFill>
              </a:rPr>
              <a:t>6. Paperwork after</a:t>
            </a:r>
          </a:p>
          <a:p>
            <a:pPr algn="l"/>
            <a:r>
              <a:rPr sz="1150" b="0" i="0">
                <a:solidFill>
                  <a:srgbClr val="5B6F6B"/>
                </a:solidFill>
              </a:rPr>
              <a:t>Death in transit holds the driver; only 813 Good Samaritans rewarded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094476" y="4073652"/>
            <a:ext cx="0" cy="10469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enter"/>
          <p:cNvSpPr/>
          <p:nvPr/>
        </p:nvSpPr>
        <p:spPr>
          <a:xfrm>
            <a:off x="5042916" y="3204972"/>
            <a:ext cx="2103120" cy="86868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Golden hour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lost</a:t>
            </a:r>
          </a:p>
        </p:txBody>
      </p:sp>
      <p:sp>
        <p:nvSpPr>
          <p:cNvPr id="60" name="Root cause"/>
          <p:cNvSpPr/>
          <p:nvPr/>
        </p:nvSpPr>
        <p:spPr>
          <a:xfrm>
            <a:off x="2194560" y="5120640"/>
            <a:ext cx="7799831" cy="502920"/>
          </a:xfrm>
          <a:prstGeom prst="roundRect">
            <a:avLst>
              <a:gd name="adj" fmla="val 25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1" name="Hexagon 60"/>
          <p:cNvSpPr/>
          <p:nvPr/>
        </p:nvSpPr>
        <p:spPr>
          <a:xfrm>
            <a:off x="2331720" y="5230368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120640"/>
            <a:ext cx="70866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7AC143"/>
                </a:solidFill>
              </a:rPr>
              <a:t>Root cause: </a:t>
            </a:r>
            <a:r>
              <a:rPr sz="1300" b="0" i="0">
                <a:solidFill>
                  <a:srgbClr val="FFFFFF"/>
                </a:solidFill>
              </a:rPr>
              <a:t>every stakeholder works on a separate system, so nobody sees the whole emergency</a:t>
            </a:r>
          </a:p>
        </p:txBody>
      </p:sp>
      <p:sp>
        <p:nvSpPr>
          <p:cNvPr id="63" name="Hexagon 62"/>
          <p:cNvSpPr/>
          <p:nvPr/>
        </p:nvSpPr>
        <p:spPr>
          <a:xfrm>
            <a:off x="548640" y="5788152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" y="5715000"/>
            <a:ext cx="1600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If left unsolved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606040" y="5715000"/>
            <a:ext cx="2926080" cy="457200"/>
          </a:xfrm>
          <a:prstGeom prst="roundRect">
            <a:avLst>
              <a:gd name="adj" fmla="val 2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6" name="Picture 65" descr="FaHeartCrack_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34056" y="5824728"/>
            <a:ext cx="237744" cy="23774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063240" y="57150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</a:rPr>
              <a:t>Preventable deaths and lifelong disability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14416" y="5715000"/>
            <a:ext cx="2926080" cy="457200"/>
          </a:xfrm>
          <a:prstGeom prst="roundRect">
            <a:avLst>
              <a:gd name="adj" fmla="val 2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9" name="Picture 68" descr="FaIndianRupeeSign_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42432" y="5824728"/>
            <a:ext cx="237744" cy="23774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071616" y="57150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</a:rPr>
              <a:t>Families face higher medical costs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22792" y="5715000"/>
            <a:ext cx="2926080" cy="457200"/>
          </a:xfrm>
          <a:prstGeom prst="roundRect">
            <a:avLst>
              <a:gd name="adj" fmla="val 2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2" name="Picture 71" descr="FaHandshakeSlash_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0808" y="5824728"/>
            <a:ext cx="237744" cy="23774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079992" y="57150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</a:rPr>
              <a:t>People stop helping — the cycle repeats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QuickER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graphicFrame>
        <p:nvGraphicFramePr>
          <p:cNvPr id="26" name="Coverage matrix"/>
          <p:cNvGraphicFramePr>
            <a:graphicFrameLocks noGrp="1"/>
          </p:cNvGraphicFramePr>
          <p:nvPr/>
        </p:nvGraphicFramePr>
        <p:xfrm>
          <a:off x="548640" y="2011680"/>
          <a:ext cx="11091671" cy="3429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Existing approach</a:t>
                      </a:r>
                    </a:p>
                  </a:txBody>
                  <a:tcPr marL="73152" marR="73152" marT="27432" marB="27432" anchor="ctr">
                    <a:solidFill>
                      <a:srgbClr val="094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solidFill>
                      <a:srgbClr val="094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Where it falls short</a:t>
                      </a:r>
                    </a:p>
                  </a:txBody>
                  <a:tcPr marL="73152" marR="73152" marT="27432" marB="27432" anchor="ctr">
                    <a:solidFill>
                      <a:srgbClr val="094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Alarm</a:t>
                      </a:r>
                    </a:p>
                  </a:txBody>
                  <a:tcPr marL="73152" marR="73152" marT="27432" marB="27432" anchor="ctr">
                    <a:solidFill>
                      <a:srgbClr val="094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First aid</a:t>
                      </a:r>
                    </a:p>
                  </a:txBody>
                  <a:tcPr marL="73152" marR="73152" marT="27432" marB="27432" anchor="ctr">
                    <a:solidFill>
                      <a:srgbClr val="094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Transport</a:t>
                      </a:r>
                    </a:p>
                  </a:txBody>
                  <a:tcPr marL="73152" marR="73152" marT="27432" marB="27432" anchor="ctr">
                    <a:solidFill>
                      <a:srgbClr val="094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Right hospital</a:t>
                      </a:r>
                    </a:p>
                  </a:txBody>
                  <a:tcPr marL="73152" marR="73152" marT="27432" marB="27432" anchor="ctr">
                    <a:solidFill>
                      <a:srgbClr val="0945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After-care</a:t>
                      </a:r>
                    </a:p>
                  </a:txBody>
                  <a:tcPr marL="73152" marR="73152" marT="27432" marB="27432" anchor="ctr">
                    <a:solidFill>
                      <a:srgbClr val="094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2A2F"/>
                          </a:solidFill>
                        </a:rPr>
                        <a:t>108 / 112 emergency services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E2A2F"/>
                          </a:solidFill>
                        </a:rPr>
                        <a:t>Free ambulance on a phone call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F6B"/>
                          </a:solidFill>
                        </a:rPr>
                        <a:t>Someone must call; no patient data to ER; no police link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2A2F"/>
                          </a:solidFill>
                        </a:rPr>
                        <a:t>Phone panic button (since 2017)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E2A2F"/>
                          </a:solidFill>
                        </a:rPr>
                        <a:t>Calls 112 with 3 presses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F6B"/>
                          </a:solidFill>
                        </a:rPr>
                        <a:t>Only a call; useless if the victim is unconscious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2A2F"/>
                          </a:solidFill>
                        </a:rPr>
                        <a:t>Private ambulance apps (RED.Health, Medulance)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E2A2F"/>
                          </a:solidFill>
                        </a:rPr>
                        <a:t>Book an ambulance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F6B"/>
                          </a:solidFill>
                        </a:rPr>
                        <a:t>Victim must book; no police or ER coordination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2A2F"/>
                          </a:solidFill>
                        </a:rPr>
                        <a:t>Good Samaritan law + Rah-Veer ₹25,000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E2A2F"/>
                          </a:solidFill>
                        </a:rPr>
                        <a:t>Protects and rewards helpers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F6B"/>
                          </a:solidFill>
                        </a:rPr>
                        <a:t>Few know it; only 813 rewarded in 5 years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2A2F"/>
                          </a:solidFill>
                        </a:rPr>
                        <a:t>Cashless treatment scheme (2025)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E2A2F"/>
                          </a:solidFill>
                        </a:rPr>
                        <a:t>₹1.5 lakh care for 7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F6B"/>
                          </a:solidFill>
                        </a:rPr>
                        <a:t>Pays for care; doesn't make it faster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2A2F"/>
                          </a:solidFill>
                        </a:rPr>
                        <a:t>GoodSAM (UK, Australia)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E2A2F"/>
                          </a:solidFill>
                        </a:rPr>
                        <a:t>Alerts nearby responders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F6B"/>
                          </a:solidFill>
                        </a:rPr>
                        <a:t>Not in India; stops at first aid</a:t>
                      </a:r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E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2A2F"/>
                          </a:solidFill>
                        </a:rPr>
                        <a:t>QuickER (our direction)</a:t>
                      </a:r>
                    </a:p>
                  </a:txBody>
                  <a:tcPr marL="73152" marR="73152" marT="27432" marB="27432" anchor="ctr">
                    <a:solidFill>
                      <a:srgbClr val="EAF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E2A2F"/>
                          </a:solidFill>
                        </a:rPr>
                        <a:t>Connects all of these in real time</a:t>
                      </a:r>
                    </a:p>
                  </a:txBody>
                  <a:tcPr marL="73152" marR="73152" marT="27432" marB="27432" anchor="ctr">
                    <a:solidFill>
                      <a:srgbClr val="EAF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26855"/>
                          </a:solidFill>
                        </a:rPr>
                        <a:t>Fills the gap below</a:t>
                      </a:r>
                    </a:p>
                  </a:txBody>
                  <a:tcPr marL="73152" marR="73152" marT="27432" marB="27432" anchor="ctr">
                    <a:solidFill>
                      <a:srgbClr val="EAF5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AF5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AF5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AF5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AF5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AF5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Oval 26"/>
          <p:cNvSpPr/>
          <p:nvPr/>
        </p:nvSpPr>
        <p:spPr>
          <a:xfrm>
            <a:off x="7781544" y="255574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Chord 27"/>
          <p:cNvSpPr/>
          <p:nvPr/>
        </p:nvSpPr>
        <p:spPr>
          <a:xfrm>
            <a:off x="7781544" y="2555748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622792" y="255574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464040" y="2555748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305288" y="255574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Chord 31"/>
          <p:cNvSpPr/>
          <p:nvPr/>
        </p:nvSpPr>
        <p:spPr>
          <a:xfrm>
            <a:off x="10305288" y="2555748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137392" y="255574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781544" y="2985515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Chord 34"/>
          <p:cNvSpPr/>
          <p:nvPr/>
        </p:nvSpPr>
        <p:spPr>
          <a:xfrm>
            <a:off x="7781544" y="2985515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22792" y="2985515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464040" y="2985515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05288" y="2985515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137392" y="2985515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781544" y="3415284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622792" y="3415284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464040" y="3415284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305288" y="3415284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Chord 43"/>
          <p:cNvSpPr/>
          <p:nvPr/>
        </p:nvSpPr>
        <p:spPr>
          <a:xfrm>
            <a:off x="10305288" y="3415284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137392" y="3415284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781544" y="384505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Chord 46"/>
          <p:cNvSpPr/>
          <p:nvPr/>
        </p:nvSpPr>
        <p:spPr>
          <a:xfrm>
            <a:off x="7781544" y="3845052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622792" y="384505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Chord 48"/>
          <p:cNvSpPr/>
          <p:nvPr/>
        </p:nvSpPr>
        <p:spPr>
          <a:xfrm>
            <a:off x="8622792" y="3845052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464040" y="3845052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305288" y="3845052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1137392" y="384505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Chord 52"/>
          <p:cNvSpPr/>
          <p:nvPr/>
        </p:nvSpPr>
        <p:spPr>
          <a:xfrm>
            <a:off x="11137392" y="3845052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781544" y="427482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622792" y="427482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464040" y="427482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305288" y="427482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Chord 57"/>
          <p:cNvSpPr/>
          <p:nvPr/>
        </p:nvSpPr>
        <p:spPr>
          <a:xfrm>
            <a:off x="10305288" y="4274820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137392" y="427482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Chord 59"/>
          <p:cNvSpPr/>
          <p:nvPr/>
        </p:nvSpPr>
        <p:spPr>
          <a:xfrm>
            <a:off x="11137392" y="4274820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781544" y="470458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622792" y="4704588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464040" y="470458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305288" y="470458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137392" y="470458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781544" y="5134356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622792" y="5134356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464040" y="5134356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305288" y="5134356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137392" y="5134356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48640" y="5824728"/>
            <a:ext cx="182880" cy="182880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4672" y="57332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026855"/>
                </a:solidFill>
              </a:rPr>
              <a:t>covers</a:t>
            </a:r>
          </a:p>
        </p:txBody>
      </p:sp>
      <p:sp>
        <p:nvSpPr>
          <p:cNvPr id="73" name="Oval 72"/>
          <p:cNvSpPr/>
          <p:nvPr/>
        </p:nvSpPr>
        <p:spPr>
          <a:xfrm>
            <a:off x="1508760" y="582472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89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4" name="Chord 73"/>
          <p:cNvSpPr/>
          <p:nvPr/>
        </p:nvSpPr>
        <p:spPr>
          <a:xfrm>
            <a:off x="1508760" y="5824728"/>
            <a:ext cx="182880" cy="182880"/>
          </a:xfrm>
          <a:prstGeom prst="chord">
            <a:avLst>
              <a:gd name="adj1" fmla="val 5400000"/>
              <a:gd name="adj2" fmla="val 16200000"/>
            </a:avLst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764792" y="57332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D68910"/>
                </a:solidFill>
              </a:rPr>
              <a:t>partly</a:t>
            </a:r>
          </a:p>
        </p:txBody>
      </p:sp>
      <p:sp>
        <p:nvSpPr>
          <p:cNvPr id="76" name="Oval 75"/>
          <p:cNvSpPr/>
          <p:nvPr/>
        </p:nvSpPr>
        <p:spPr>
          <a:xfrm>
            <a:off x="2468880" y="582472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9B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724912" y="57332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5B6F6B"/>
                </a:solidFill>
              </a:rPr>
              <a:t>not at all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931920" y="5641848"/>
            <a:ext cx="7708392" cy="548640"/>
          </a:xfrm>
          <a:prstGeom prst="roundRect">
            <a:avLst>
              <a:gd name="adj" fmla="val 25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9" name="Hexagon 78"/>
          <p:cNvSpPr/>
          <p:nvPr/>
        </p:nvSpPr>
        <p:spPr>
          <a:xfrm>
            <a:off x="4069080" y="5769864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80" y="5641848"/>
            <a:ext cx="69951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7AC143"/>
                </a:solidFill>
              </a:rPr>
              <a:t>The gap: </a:t>
            </a:r>
            <a:r>
              <a:rPr sz="1300" b="0" i="0">
                <a:solidFill>
                  <a:srgbClr val="FFFFFF"/>
                </a:solidFill>
              </a:rPr>
              <a:t>nothing connects bystander → ambulance → police → hospital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 QuickER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26" name="Insight"/>
          <p:cNvSpPr/>
          <p:nvPr/>
        </p:nvSpPr>
        <p:spPr>
          <a:xfrm>
            <a:off x="548640" y="2011680"/>
            <a:ext cx="11091672" cy="896112"/>
          </a:xfrm>
          <a:prstGeom prst="roundRect">
            <a:avLst>
              <a:gd name="adj" fmla="val 12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9808" y="2176272"/>
            <a:ext cx="566928" cy="566928"/>
          </a:xfrm>
          <a:prstGeom prst="ellipse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8" name="Picture 27" descr="FaLightbulb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70" y="2312334"/>
            <a:ext cx="294802" cy="2948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81328" y="2011680"/>
            <a:ext cx="4617720" cy="8961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7AC143"/>
                </a:solidFill>
              </a:rPr>
              <a:t>Insight: </a:t>
            </a:r>
            <a:r>
              <a:rPr sz="1450" b="0" i="0">
                <a:solidFill>
                  <a:srgbClr val="FFFFFF"/>
                </a:solidFill>
              </a:rPr>
              <a:t>India already has the building blocks. What's missing is the layer that connects them.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2267712"/>
            <a:ext cx="8686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7AC1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ABHA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87184" y="2267712"/>
            <a:ext cx="1024128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7AC1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e-DAR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93608" y="2267712"/>
            <a:ext cx="8686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7AC1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108 / 112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44584" y="2267712"/>
            <a:ext cx="128016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7AC1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Cashless scheme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2267712"/>
            <a:ext cx="86868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7AC1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Rah-Veer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90672"/>
            <a:ext cx="3611880" cy="3081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31520" y="3218688"/>
            <a:ext cx="512064" cy="512064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7" name="Picture 36" descr="FaMobileScreenButto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3341583"/>
            <a:ext cx="266273" cy="266273"/>
          </a:xfrm>
          <a:prstGeom prst="rect">
            <a:avLst/>
          </a:prstGeom>
        </p:spPr>
      </p:pic>
      <p:sp>
        <p:nvSpPr>
          <p:cNvPr id="38" name="Hexagon 37"/>
          <p:cNvSpPr/>
          <p:nvPr/>
        </p:nvSpPr>
        <p:spPr>
          <a:xfrm>
            <a:off x="1353312" y="3310128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64792" y="3218688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E2A2F"/>
                </a:solidFill>
              </a:rPr>
              <a:t>Hardware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913632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Smartphones for patients, crews, police and responders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QR stickers for vehicles and helmets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A PC or tablet at each ER desk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Optional Bluetooth vitals monitor in ambulances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Cloud server (student cloud credits)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88536" y="3090672"/>
            <a:ext cx="3611880" cy="3081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471416" y="3218688"/>
            <a:ext cx="512064" cy="512064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3" name="Picture 42" descr="FaCod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311" y="3341583"/>
            <a:ext cx="266273" cy="266273"/>
          </a:xfrm>
          <a:prstGeom prst="rect">
            <a:avLst/>
          </a:prstGeom>
        </p:spPr>
      </p:pic>
      <p:sp>
        <p:nvSpPr>
          <p:cNvPr id="44" name="Hexagon 43"/>
          <p:cNvSpPr/>
          <p:nvPr/>
        </p:nvSpPr>
        <p:spPr>
          <a:xfrm>
            <a:off x="5093207" y="3310128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4688" y="3218688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E2A2F"/>
                </a:solidFill>
              </a:rPr>
              <a:t>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9703" y="3913632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Flutter apps (Android + iOS)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React dashboard for hospitals and police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Node.js + PostgreSQL / PostGIS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Firebase push, WebSockets, SMS gateway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Google Maps / Mappls routing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Links to ABHA, e-DAR and 108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8431" y="3090672"/>
            <a:ext cx="3611880" cy="3081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211311" y="3218688"/>
            <a:ext cx="512064" cy="512064"/>
          </a:xfrm>
          <a:prstGeom prst="ellips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9" name="Picture 48" descr="FaPeopleGroup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207" y="3341583"/>
            <a:ext cx="266273" cy="266273"/>
          </a:xfrm>
          <a:prstGeom prst="rect">
            <a:avLst/>
          </a:prstGeom>
        </p:spPr>
      </p:pic>
      <p:sp>
        <p:nvSpPr>
          <p:cNvPr id="50" name="Hexagon 49"/>
          <p:cNvSpPr/>
          <p:nvPr/>
        </p:nvSpPr>
        <p:spPr>
          <a:xfrm>
            <a:off x="8833104" y="3310128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44584" y="3218688"/>
            <a:ext cx="228600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E2A2F"/>
                </a:solidFill>
              </a:rPr>
              <a:t>Other resources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913632"/>
            <a:ext cx="324612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Our team of 4: apps, dashboard, backend, research and pitch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Mentors: an ER doctor and a 108 / EMS expert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Pilot partners: 2 hospitals, 1 ambulance operator, traffic police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Verified responders: nursing and medical students</a:t>
            </a:r>
          </a:p>
          <a:p>
            <a:pPr marL="182880" indent="-182880" algn="l">
              <a:spcAft>
                <a:spcPts val="600"/>
              </a:spcAft>
              <a:buClr>
                <a:srgbClr val="026855"/>
              </a:buClr>
              <a:buSzPct val="100000"/>
              <a:buChar char="•"/>
            </a:pPr>
            <a:r>
              <a:rPr sz="1300" b="0" i="0">
                <a:solidFill>
                  <a:srgbClr val="0E2A2F"/>
                </a:solidFill>
              </a:rPr>
              <a:t>Data-privacy guidance (DPDP Act 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 err="1">
                <a:solidFill>
                  <a:schemeClr val="accent1"/>
                </a:solidFill>
              </a:rPr>
              <a:t>QuickER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26" name="Hexagon 25"/>
          <p:cNvSpPr/>
          <p:nvPr/>
        </p:nvSpPr>
        <p:spPr>
          <a:xfrm>
            <a:off x="548640" y="2002536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1993392"/>
            <a:ext cx="623620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026855"/>
                </a:solidFill>
              </a:rPr>
              <a:t>What we intend to build: QuickER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2834640" y="2752344"/>
            <a:ext cx="320040" cy="859536"/>
          </a:xfrm>
          <a:prstGeom prst="curvedConnector3">
            <a:avLst/>
          </a:prstGeom>
          <a:ln w="19050">
            <a:solidFill>
              <a:srgbClr val="4FA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834640" y="3611880"/>
            <a:ext cx="320040" cy="0"/>
          </a:xfrm>
          <a:prstGeom prst="curvedConnector3">
            <a:avLst/>
          </a:prstGeom>
          <a:ln w="19050">
            <a:solidFill>
              <a:srgbClr val="4FA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834640" y="3611880"/>
            <a:ext cx="320040" cy="859536"/>
          </a:xfrm>
          <a:prstGeom prst="curvedConnector3">
            <a:avLst/>
          </a:prstGeom>
          <a:ln w="19050">
            <a:solidFill>
              <a:srgbClr val="4FA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617720" y="2752344"/>
            <a:ext cx="320040" cy="859536"/>
          </a:xfrm>
          <a:prstGeom prst="curvedConnector3">
            <a:avLst/>
          </a:prstGeom>
          <a:ln w="19050">
            <a:solidFill>
              <a:srgbClr val="4FA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17720" y="3611880"/>
            <a:ext cx="320040" cy="0"/>
          </a:xfrm>
          <a:prstGeom prst="curvedConnector3">
            <a:avLst/>
          </a:prstGeom>
          <a:ln w="19050">
            <a:solidFill>
              <a:srgbClr val="4FA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17720" y="3611880"/>
            <a:ext cx="320040" cy="859536"/>
          </a:xfrm>
          <a:prstGeom prst="curvedConnector3">
            <a:avLst/>
          </a:prstGeom>
          <a:ln w="19050">
            <a:solidFill>
              <a:srgbClr val="4FA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8640" y="2395728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0080" y="2551176"/>
            <a:ext cx="402336" cy="40233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6" name="Picture 35" descr="FaMobileScreenButton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" y="2641701"/>
            <a:ext cx="221284" cy="2212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15568" y="2450592"/>
            <a:ext cx="1664207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E2A2F"/>
                </a:solidFill>
              </a:rPr>
              <a:t>Patient app</a:t>
            </a:r>
          </a:p>
          <a:p>
            <a:pPr algn="l"/>
            <a:r>
              <a:rPr sz="1050" b="0" i="0">
                <a:solidFill>
                  <a:srgbClr val="5B6F6B"/>
                </a:solidFill>
              </a:rPr>
              <a:t>SOS tile · QR · ABHA profile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255264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0080" y="3410712"/>
            <a:ext cx="402336" cy="40233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0" name="Picture 39" descr="FaUserNurse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" y="3501237"/>
            <a:ext cx="221284" cy="22128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15568" y="3310128"/>
            <a:ext cx="1664207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E2A2F"/>
                </a:solidFill>
              </a:rPr>
              <a:t>Responder network</a:t>
            </a:r>
          </a:p>
          <a:p>
            <a:pPr algn="l"/>
            <a:r>
              <a:rPr sz="1050" b="0" i="0">
                <a:solidFill>
                  <a:srgbClr val="5B6F6B"/>
                </a:solidFill>
              </a:rPr>
              <a:t>Nearby nurses · first aid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114800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0080" y="4270248"/>
            <a:ext cx="402336" cy="40233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4" name="Picture 43" descr="FaTruckMedical_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" y="4360773"/>
            <a:ext cx="221284" cy="22128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15568" y="4169663"/>
            <a:ext cx="1664207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E2A2F"/>
                </a:solidFill>
              </a:rPr>
              <a:t>Ambulance app</a:t>
            </a:r>
          </a:p>
          <a:p>
            <a:pPr algn="l"/>
            <a:r>
              <a:rPr sz="1050" b="0" i="0">
                <a:solidFill>
                  <a:srgbClr val="5B6F6B"/>
                </a:solidFill>
              </a:rPr>
              <a:t>Best route · 3-tap vitals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0" y="2395728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029200" y="2551176"/>
            <a:ext cx="402336" cy="40233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8" name="Picture 47" descr="FaUserShield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9725" y="2641701"/>
            <a:ext cx="221284" cy="2212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504688" y="2450592"/>
            <a:ext cx="1664207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E2A2F"/>
                </a:solidFill>
              </a:rPr>
              <a:t>Police portal</a:t>
            </a:r>
          </a:p>
          <a:p>
            <a:pPr algn="l"/>
            <a:r>
              <a:rPr sz="1050" b="0" i="0">
                <a:solidFill>
                  <a:srgbClr val="5B6F6B"/>
                </a:solidFill>
              </a:rPr>
              <a:t>Junction alerts · corridor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37760" y="3255264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029200" y="3410712"/>
            <a:ext cx="402336" cy="40233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2" name="Picture 51" descr="FaLaptopMedical_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9725" y="3501237"/>
            <a:ext cx="221284" cy="22128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504688" y="3310128"/>
            <a:ext cx="1664207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E2A2F"/>
                </a:solidFill>
              </a:rPr>
              <a:t>Hospital dashboard</a:t>
            </a:r>
          </a:p>
          <a:p>
            <a:pPr algn="l"/>
            <a:r>
              <a:rPr sz="1050" b="0" i="0">
                <a:solidFill>
                  <a:srgbClr val="5B6F6B"/>
                </a:solidFill>
              </a:rPr>
              <a:t>Pre-arrival card · ER status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0" y="4114800"/>
            <a:ext cx="22860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029200" y="4270248"/>
            <a:ext cx="402336" cy="40233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6" name="Picture 55" descr="FaLin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9725" y="4360773"/>
            <a:ext cx="221284" cy="22128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504688" y="4169663"/>
            <a:ext cx="1664207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0E2A2F"/>
                </a:solidFill>
              </a:rPr>
              <a:t>Core platform</a:t>
            </a:r>
          </a:p>
          <a:p>
            <a:pPr algn="l"/>
            <a:r>
              <a:rPr sz="1050" b="0" i="0">
                <a:solidFill>
                  <a:srgbClr val="5B6F6B"/>
                </a:solidFill>
              </a:rPr>
              <a:t>Matching · tamper-proof record</a:t>
            </a:r>
          </a:p>
        </p:txBody>
      </p:sp>
      <p:sp>
        <p:nvSpPr>
          <p:cNvPr id="58" name="QuickER hub"/>
          <p:cNvSpPr/>
          <p:nvPr/>
        </p:nvSpPr>
        <p:spPr>
          <a:xfrm>
            <a:off x="3154680" y="3255264"/>
            <a:ext cx="1463040" cy="713232"/>
          </a:xfrm>
          <a:prstGeom prst="roundRect">
            <a:avLst>
              <a:gd name="adj" fmla="val 30000"/>
            </a:avLst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QuickER</a:t>
            </a:r>
          </a:p>
          <a:p>
            <a:pPr algn="ctr"/>
            <a:r>
              <a:rPr sz="1050" b="0" i="0">
                <a:solidFill>
                  <a:srgbClr val="D3E6DD"/>
                </a:solidFill>
              </a:rPr>
              <a:t>one live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9743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026855"/>
                </a:solidFill>
              </a:rPr>
              <a:t>How it works</a:t>
            </a:r>
          </a:p>
        </p:txBody>
      </p:sp>
      <p:sp>
        <p:nvSpPr>
          <p:cNvPr id="60" name="Pentagon 59"/>
          <p:cNvSpPr/>
          <p:nvPr/>
        </p:nvSpPr>
        <p:spPr>
          <a:xfrm>
            <a:off x="548640" y="5285232"/>
            <a:ext cx="1426464" cy="731520"/>
          </a:xfrm>
          <a:prstGeom prst="homePlate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" y="5285232"/>
            <a:ext cx="1042416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Tap SOS or scan QR</a:t>
            </a:r>
          </a:p>
        </p:txBody>
      </p:sp>
      <p:sp>
        <p:nvSpPr>
          <p:cNvPr id="62" name="Chevron 61"/>
          <p:cNvSpPr/>
          <p:nvPr/>
        </p:nvSpPr>
        <p:spPr>
          <a:xfrm>
            <a:off x="1865376" y="5285232"/>
            <a:ext cx="1426464" cy="731520"/>
          </a:xfrm>
          <a:prstGeom prst="chevron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139696" y="5285232"/>
            <a:ext cx="923544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Best match found</a:t>
            </a:r>
          </a:p>
        </p:txBody>
      </p:sp>
      <p:sp>
        <p:nvSpPr>
          <p:cNvPr id="64" name="Chevron 63"/>
          <p:cNvSpPr/>
          <p:nvPr/>
        </p:nvSpPr>
        <p:spPr>
          <a:xfrm>
            <a:off x="3182112" y="5285232"/>
            <a:ext cx="1426464" cy="731520"/>
          </a:xfrm>
          <a:prstGeom prst="chevron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456432" y="5285232"/>
            <a:ext cx="923544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All alerted together</a:t>
            </a:r>
          </a:p>
        </p:txBody>
      </p:sp>
      <p:sp>
        <p:nvSpPr>
          <p:cNvPr id="66" name="Chevron 65"/>
          <p:cNvSpPr/>
          <p:nvPr/>
        </p:nvSpPr>
        <p:spPr>
          <a:xfrm>
            <a:off x="4498848" y="5285232"/>
            <a:ext cx="1426464" cy="731520"/>
          </a:xfrm>
          <a:prstGeom prst="chevron">
            <a:avLst/>
          </a:prstGeom>
          <a:solidFill>
            <a:srgbClr val="026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773168" y="5285232"/>
            <a:ext cx="923544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 handover</a:t>
            </a:r>
          </a:p>
        </p:txBody>
      </p:sp>
      <p:sp>
        <p:nvSpPr>
          <p:cNvPr id="68" name="Chevron 67"/>
          <p:cNvSpPr/>
          <p:nvPr/>
        </p:nvSpPr>
        <p:spPr>
          <a:xfrm>
            <a:off x="5815583" y="5285232"/>
            <a:ext cx="1426464" cy="731520"/>
          </a:xfrm>
          <a:prstGeom prst="chevr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89903" y="5285232"/>
            <a:ext cx="923544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0E2A2F"/>
                </a:solidFill>
              </a:rPr>
              <a:t>Record auto-closed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8079" y="1993392"/>
            <a:ext cx="414223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1" name="Hexagon 70"/>
          <p:cNvSpPr/>
          <p:nvPr/>
        </p:nvSpPr>
        <p:spPr>
          <a:xfrm>
            <a:off x="7662672" y="2112263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2103120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026855"/>
                </a:solidFill>
              </a:rPr>
              <a:t>What we want to improve</a:t>
            </a:r>
          </a:p>
        </p:txBody>
      </p:sp>
      <p:sp>
        <p:nvSpPr>
          <p:cNvPr id="73" name="Oval 72"/>
          <p:cNvSpPr/>
          <p:nvPr/>
        </p:nvSpPr>
        <p:spPr>
          <a:xfrm>
            <a:off x="7699248" y="2560320"/>
            <a:ext cx="310896" cy="31089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4" name="Picture 73" descr="FaStopwatch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4536" y="2625608"/>
            <a:ext cx="180319" cy="180319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119872" y="2560320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0E2A2F"/>
                </a:solidFill>
              </a:rPr>
              <a:t>Time from alarm to dispatch</a:t>
            </a:r>
          </a:p>
        </p:txBody>
      </p:sp>
      <p:sp>
        <p:nvSpPr>
          <p:cNvPr id="76" name="Oval 75"/>
          <p:cNvSpPr/>
          <p:nvPr/>
        </p:nvSpPr>
        <p:spPr>
          <a:xfrm>
            <a:off x="7699248" y="2907791"/>
            <a:ext cx="310896" cy="31089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7" name="Picture 76" descr="FaRoute_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64536" y="2973080"/>
            <a:ext cx="180319" cy="180319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119872" y="2907791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0E2A2F"/>
                </a:solidFill>
              </a:rPr>
              <a:t>Time from scene to the right hospital</a:t>
            </a:r>
          </a:p>
        </p:txBody>
      </p:sp>
      <p:sp>
        <p:nvSpPr>
          <p:cNvPr id="79" name="Oval 78"/>
          <p:cNvSpPr/>
          <p:nvPr/>
        </p:nvSpPr>
        <p:spPr>
          <a:xfrm>
            <a:off x="7699248" y="3255263"/>
            <a:ext cx="310896" cy="31089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80" name="Picture 79" descr="FaHospital_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4536" y="3320552"/>
            <a:ext cx="180319" cy="180319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119872" y="3255263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0E2A2F"/>
                </a:solidFill>
              </a:rPr>
              <a:t>ER readiness before arrival</a:t>
            </a:r>
          </a:p>
        </p:txBody>
      </p:sp>
      <p:sp>
        <p:nvSpPr>
          <p:cNvPr id="82" name="Oval 81"/>
          <p:cNvSpPr/>
          <p:nvPr/>
        </p:nvSpPr>
        <p:spPr>
          <a:xfrm>
            <a:off x="7699248" y="3602735"/>
            <a:ext cx="310896" cy="310896"/>
          </a:xfrm>
          <a:prstGeom prst="ellipse">
            <a:avLst/>
          </a:prstGeom>
          <a:solidFill>
            <a:srgbClr val="D3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83" name="Picture 82" descr="FaFileShield_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4536" y="3668024"/>
            <a:ext cx="180319" cy="180319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8119872" y="3602735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0E2A2F"/>
                </a:solidFill>
              </a:rPr>
              <a:t>Hours lost to paperwork after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498079" y="4142232"/>
            <a:ext cx="4142232" cy="2029968"/>
          </a:xfrm>
          <a:prstGeom prst="roundRect">
            <a:avLst>
              <a:gd name="adj" fmla="val 8000"/>
            </a:avLst>
          </a:prstGeom>
          <a:solidFill>
            <a:srgbClr val="09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6" name="Hexagon 85"/>
          <p:cNvSpPr/>
          <p:nvPr/>
        </p:nvSpPr>
        <p:spPr>
          <a:xfrm>
            <a:off x="7662672" y="4261104"/>
            <a:ext cx="329184" cy="286390"/>
          </a:xfrm>
          <a:prstGeom prst="hexagon">
            <a:avLst/>
          </a:prstGeom>
          <a:solidFill>
            <a:srgbClr val="7A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200" b="1" i="0">
                <a:solidFill>
                  <a:srgbClr val="0E2A2F"/>
                </a:solidFill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1584" y="4251960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What success looks like</a:t>
            </a:r>
          </a:p>
        </p:txBody>
      </p:sp>
      <p:pic>
        <p:nvPicPr>
          <p:cNvPr id="88" name="Picture 87" descr="FaCheck_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9248" y="4727448"/>
            <a:ext cx="201168" cy="20116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028431" y="4681728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ER alerted before arrival in every pilot case</a:t>
            </a:r>
          </a:p>
        </p:txBody>
      </p:sp>
      <p:pic>
        <p:nvPicPr>
          <p:cNvPr id="90" name="Picture 89" descr="FaCheck_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9248" y="5084064"/>
            <a:ext cx="201168" cy="2011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028431" y="5038344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Fewer patients shifted for lack of a bed</a:t>
            </a:r>
          </a:p>
        </p:txBody>
      </p:sp>
      <p:pic>
        <p:nvPicPr>
          <p:cNvPr id="92" name="Picture 91" descr="FaCheck_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9248" y="5440679"/>
            <a:ext cx="201168" cy="20116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8028431" y="5394959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Driver handover in minutes, not hours</a:t>
            </a:r>
          </a:p>
        </p:txBody>
      </p:sp>
      <p:pic>
        <p:nvPicPr>
          <p:cNvPr id="94" name="Picture 93" descr="FaCheck_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9248" y="5797295"/>
            <a:ext cx="201168" cy="20116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028431" y="5751575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3-month pilot: campus + nearby highway, 2 hospitals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1623</Words>
  <Application>Microsoft Office PowerPoint</Application>
  <PresentationFormat>Widescreen</PresentationFormat>
  <Paragraphs>257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ravi shreyas</cp:lastModifiedBy>
  <cp:revision>3</cp:revision>
  <dcterms:created xsi:type="dcterms:W3CDTF">2026-10-07T15:27:40Z</dcterms:created>
  <dcterms:modified xsi:type="dcterms:W3CDTF">2026-10-09T15:36:23Z</dcterms:modified>
</cp:coreProperties>
</file>